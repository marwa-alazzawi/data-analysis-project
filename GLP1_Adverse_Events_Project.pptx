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No specified serious outcome</c:v>
                </c:pt>
                <c:pt idx="1">
                  <c:v>Disabling</c:v>
                </c:pt>
                <c:pt idx="2">
                  <c:v>Hospitalization</c:v>
                </c:pt>
                <c:pt idx="3">
                  <c:v>Life-threatening</c:v>
                </c:pt>
                <c:pt idx="4">
                  <c:v>Death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46625</c:v>
                </c:pt>
                <c:pt idx="1">
                  <c:v>374</c:v>
                </c:pt>
                <c:pt idx="2">
                  <c:v>5314</c:v>
                </c:pt>
                <c:pt idx="3">
                  <c:v>564</c:v>
                </c:pt>
                <c:pt idx="4">
                  <c:v>1293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7C-422D-88E2-B5CADC88D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949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93750"/>
                </a:solidFill>
                <a:latin typeface="Aptos"/>
              </a:rPr>
              <a:t>GLP-1 Adverse Events
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346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E86C1"/>
                </a:solidFill>
                <a:latin typeface="Aptos"/>
              </a:rPr>
              <a:t>From reaction-level records to report-level safety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4747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Python • Pandas • Plotly •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43000"/>
            <a:ext cx="2971800" cy="29718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6916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E86C1"/>
                </a:solidFill>
                <a:latin typeface="Aptos"/>
              </a:rPr>
              <a:t>149,209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2402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3750"/>
                </a:solidFill>
                <a:latin typeface="Aptos"/>
              </a:rPr>
              <a:t>reaction-level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7889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93750"/>
                </a:solidFill>
                <a:latin typeface="Aptos"/>
              </a:rPr>
              <a:t>54,170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33756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3750"/>
                </a:solidFill>
                <a:latin typeface="Aptos"/>
              </a:rPr>
              <a:t>unique safety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080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Mid-project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1. Data domain &amp; project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A pharmacovigilance-focused analysis of GLP-1 adverse-event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38912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E86C1"/>
                </a:solidFill>
                <a:latin typeface="Aptos"/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3750"/>
                </a:solidFill>
                <a:latin typeface="Aptos"/>
              </a:defRPr>
            </a:pPr>
            <a:r>
              <a:t>• Healthcare / pharmacovigilance</a:t>
            </a:r>
          </a:p>
          <a:p>
            <a:pPr>
              <a:spcAft>
                <a:spcPts val="1000"/>
              </a:spcAft>
              <a:defRPr sz="1600">
                <a:solidFill>
                  <a:srgbClr val="193750"/>
                </a:solidFill>
                <a:latin typeface="Aptos"/>
              </a:defRPr>
            </a:pPr>
            <a:r>
              <a:t>• GLP-1 drugs used across diabetes and weight-management indications</a:t>
            </a:r>
          </a:p>
          <a:p>
            <a:pPr>
              <a:spcAft>
                <a:spcPts val="1000"/>
              </a:spcAft>
              <a:defRPr sz="1600">
                <a:solidFill>
                  <a:srgbClr val="193750"/>
                </a:solidFill>
                <a:latin typeface="Aptos"/>
              </a:defRPr>
            </a:pPr>
            <a:r>
              <a:t>• Patient demographics, adverse reactions, serious outcomes, geography and drug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750"/>
                </a:solidFill>
                <a:latin typeface="Aptos"/>
              </a:rPr>
              <a:t>Main 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389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86C1"/>
                </a:solidFill>
                <a:latin typeface="Aptos"/>
              </a:rPr>
              <a:t>How do adverse-event patterns differ across GLP-1 drugs, and what demographic and clinical factors are associated with serious adverse events?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25196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3"/>
                </a:solidFill>
                <a:latin typeface="Aptos"/>
              </a:rPr>
              <a:t>Six analyses examine severity, age, sex, brand, geography and FDA approval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2. Dataset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Two source tables are merged on generic_name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1430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149,209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3750"/>
                </a:solidFill>
                <a:latin typeface="Aptos"/>
              </a:rPr>
              <a:t>Reaction-level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9169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Rows in merged analysis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1430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63624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54,170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984248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3750"/>
                </a:solidFill>
                <a:latin typeface="Aptos"/>
              </a:rPr>
              <a:t>Unique safety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258568"/>
            <a:ext cx="29169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Unique safetyreportid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11430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563624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984248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3750"/>
                </a:solidFill>
                <a:latin typeface="Aptos"/>
              </a:rPr>
              <a:t>Original merged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58568"/>
            <a:ext cx="29169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16 adverse-event + 7 drug fields, with generic_name shared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3750"/>
                </a:solidFill>
                <a:latin typeface="Aptos"/>
              </a:rPr>
              <a:t>Why rows ≠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3"/>
                </a:solidFill>
                <a:latin typeface="Aptos"/>
              </a:rPr>
              <a:t>One safety report can list multiple reactions. Each reaction can therefore occupy a separate row.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23560" y="301752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safetyreportid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generic_name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reaction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10001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semaglutide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Nausea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10001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semaglutide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Vomiting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10001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semaglutide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3750"/>
                          </a:solidFill>
                        </a:defRPr>
                      </a:pPr>
                      <a:r>
                        <a:t>Abdominal pain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23560" y="523036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tos"/>
              </a:rPr>
              <a:t>These are not ordinary duplicate rows; dropping them blindly would lose reaction information.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3. Adverse-event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Core fields from adverse_events.csv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5321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safetyreportid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Unique safety-report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generic_name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Generic drug name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brand_queried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Brand associated with the query/report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receive_date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Date the safety report was received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Reported country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serious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Overall serious-event flag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seriousness_death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Death outcome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seriousness_lifethreatening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Life-threatening outcome flag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325880"/>
          <a:ext cx="55321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seriousness_hospitalization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Hospitalization outcome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seriousness_disabling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Disabling outcome flag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patient_age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Reported patient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patient_age_unit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Unit for patient age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patient_sex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Reported patient 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patient_weight_kg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Reported patient weight in kg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Reported adverse reaction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reaction_outcome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3750"/>
                          </a:solidFill>
                        </a:defRPr>
                      </a:pPr>
                      <a:r>
                        <a:t>Recorded reaction outcome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4. Drug metadata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Fields from drugs_overview.csv, merged using generic_name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508760"/>
          <a:ext cx="101498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generic_name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Generic drug name; merge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brand_names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Known brand names for the generic drug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manufacturer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Drug manufacturer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indication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Listed clinical indication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fda_first_approval_date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Recorded first FDA approval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is_investigational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Whether the drug is investigational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drug_class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3750"/>
                          </a:solidFill>
                        </a:defRPr>
                      </a:pPr>
                      <a:r>
                        <a:t>Drug class / therapeutic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5623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3750"/>
                </a:solidFill>
                <a:latin typeface="Aptos"/>
              </a:rPr>
              <a:t>Feature engineering used in the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562356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Aptos"/>
              </a:rPr>
              <a:t>approval_year • years_since_approval • severity_level • severity_label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5. Data-quality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The dataset is realistic because cleaning requires decisions, not just deletion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Repeated report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44475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ptos"/>
              </a:rPr>
              <a:t>149,209 rows but only 54,170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Preserve reaction-level rows; create report-level tables when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12264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Missing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311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ptos"/>
              </a:rPr>
              <a:t>36.74% at row level; 42.79% after grouping by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03704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Handle separately and document imputation/complete-case choice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98648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Missing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01752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ptos"/>
              </a:rPr>
              <a:t>70.03% at row level; 81.20% at report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99008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Too sparse for reliable main analysis; excluded from current analyses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85032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03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Unknown sex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803904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ptos"/>
              </a:rPr>
              <a:t>4.26% of reaction rows; 5.96% after report 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76472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Converted Unknown to missing and excluded from sex analyses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71416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902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Date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90288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Aptos"/>
              </a:rPr>
              <a:t>Negative years_since_approval values exist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62855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Investigated rather than automatically deleting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3766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750"/>
                </a:solidFill>
                <a:latin typeface="Aptos"/>
              </a:rPr>
              <a:t>Investigational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37667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Aptos"/>
              </a:rPr>
              <a:t>All 149,209 rows are 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34924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No analytical variation; dropped/not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6. Cleaning &amp; analytical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Different questions require different levels of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184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adverse events + drug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6184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4592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duplicates, missingness,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6184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4592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Convert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1284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dates to datetime; derive approval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767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794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Aggregate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one row/report for age, sex and severity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1188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3767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794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616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project-defined severity hierarchy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611880"/>
            <a:ext cx="3429000" cy="16002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3767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794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3750"/>
                </a:solidFill>
                <a:latin typeface="Aptos"/>
              </a:rP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616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retain reaction-level data for reaction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3750"/>
                </a:solidFill>
                <a:latin typeface="Aptos"/>
              </a:rPr>
              <a:t>Severity hierarchy used for analysis: 0 No specified serious outcome → 1 Disabling → 2 Hospitalization → 3 Life-threatening → 4 Death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7. Insight 1 — Severity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Report-level severity uses the highest severity recorded for each safety report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3750"/>
                </a:solidFill>
                <a:latin typeface="Aptos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86.07% had no specified serious outcome in the constructed hierarchy.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Hospitalization was the largest specified serious category (9.81%).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Death represented 2.39%; life-threatening 1.04%; disabling 0.69%.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These are proportions of reported safety cases, not incidence rates in exposed patients.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8. Insights 2–4 — Age, sex &amp; brand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Demographic patterns and brand-level report 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54864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 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No specified serious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25279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Disabling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55.7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56.0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Hospitalization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3792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Life-threatening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57.1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59.0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64.5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3750"/>
                          </a:solidFill>
                        </a:defRPr>
                      </a:pPr>
                      <a: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3750"/>
                </a:solidFill>
                <a:latin typeface="Aptos"/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Among reports with known age, death cases had the highest mean age (~64.5 years). Male mean age was higher than female mean age in each severity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3750"/>
                </a:solidFill>
                <a:latin typeface="Aptos"/>
              </a:rPr>
              <a:t>Brand-level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Victoza had the largest hospitalization count in the current report-level brand grouping (937).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Byetta had the largest death count in that grouping (558).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Raw counts should not be interpreted as comparative drug risk because exposure and reporting volume differ by 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4709160"/>
            <a:ext cx="4206240" cy="96012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4919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Aptos"/>
              </a:rPr>
              <a:t>Best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523036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3750"/>
                </a:solidFill>
                <a:latin typeface="Aptos"/>
              </a:rPr>
              <a:t>Reporting pattern ≠ incidence or causality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9. Insights 5–6 — Geography, reactions &amp; approval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Descriptive patterns that contextualize the safety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66160" cy="452628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Aptos"/>
              </a:rPr>
              <a:t>Geography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3750"/>
                </a:solidFill>
                <a:latin typeface="Aptos"/>
              </a:rPr>
              <a:t>47,414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ptos"/>
              </a:rPr>
              <a:t>unique reports from the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Top five: US, UNK, GB, JP, CA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Reporting volume reflects access, use and reporting practices—not country-level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91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Aptos"/>
              </a:rPr>
              <a:t>Top 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Nausea: 7,629 reports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Vomiting: 3,661 reports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Blood glucose increased: 3,373 reports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Diarrhoea: 3,156 reports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Incorrect dose administered: 3,068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8920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Counts use unique safetyreportid per reaction.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66160" cy="452628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Aptos"/>
              </a:rPr>
              <a:t>Approval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Earliest recorded approval year in the merged metadata: 2005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Newest recorded approval year: 2022</a:t>
            </a:r>
          </a:p>
          <a:p>
            <a:pPr>
              <a:spcAft>
                <a:spcPts val="1000"/>
              </a:spcAft>
              <a:defRPr sz="1300">
                <a:solidFill>
                  <a:srgbClr val="193750"/>
                </a:solidFill>
                <a:latin typeface="Aptos"/>
              </a:defRPr>
            </a:pPr>
            <a:r>
              <a:t>• Negative years_since_approval values were detected for semaglutide and tirzepatide records and require cautious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93750"/>
                </a:solidFill>
                <a:latin typeface="Aptos"/>
              </a:rPr>
              <a:t>10.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ptos"/>
              </a:rPr>
              <a:t>What the project demonstrates—and what it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38912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E86C1"/>
                </a:solidFill>
                <a:latin typeface="Aptos"/>
              </a:rPr>
              <a:t>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The main structural challenge is that rows represent reactions, while safetyreportid represents reports.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Report-level aggregation is essential for severity and demographic analyses.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Most reports had no specified serious outcome; hospitalization was the most common specified serious category.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Age, sex, brand, geography and reaction patterns provide complementary views of the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750"/>
                </a:solidFill>
                <a:latin typeface="Aptos"/>
              </a:rPr>
              <a:t>Interpretation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Spontaneous adverse-event reports cannot establish causality.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Raw report counts are not incidence rates and should not be used alone to rank drug safety.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Missing age/weight and unknown demographic values can bias subgroup findings.</a:t>
            </a:r>
          </a:p>
          <a:p>
            <a:pPr>
              <a:spcAft>
                <a:spcPts val="1000"/>
              </a:spcAft>
              <a:defRPr sz="1500">
                <a:solidFill>
                  <a:srgbClr val="193750"/>
                </a:solidFill>
                <a:latin typeface="Aptos"/>
              </a:defRPr>
            </a:pPr>
            <a:r>
              <a:t>• The Streamlit dashboard makes the cleaned results reproducible and interactive.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1120</Words>
  <Application>Microsoft Office PowerPoint</Application>
  <PresentationFormat>Widescreen</PresentationFormat>
  <Paragraphs>225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Marwa Alazzawi</cp:lastModifiedBy>
  <cp:revision>1</cp:revision>
  <dcterms:created xsi:type="dcterms:W3CDTF">2013-01-27T09:14:16Z</dcterms:created>
  <dcterms:modified xsi:type="dcterms:W3CDTF">2026-10-06T12:40:24Z</dcterms:modified>
  <cp:category/>
</cp:coreProperties>
</file>