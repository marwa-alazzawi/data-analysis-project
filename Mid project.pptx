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DECA7-A4C7-8C00-0A5F-FD1E4312C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6A5D1-6D75-5C7B-E9CC-D44AE42F3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32917-D43C-0B27-6E35-8FADD999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98D56-682C-D847-1BF0-C43425DFC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27B7D-F929-7665-53B4-6D02FD61C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1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AD755-9FF6-3198-1CEA-B218DD73F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4CC81-5ADC-59B4-7A90-911C01857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9E4DD-BA2C-D2C5-1E8C-D102E1CA1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C17E7-BAD0-B3DB-05A2-51955C993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1AAC3-7D9E-DB99-B9E3-2DDFD3AD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40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C94B-B1C6-E1AF-AFEA-53CD1C049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94731-D6E2-DFFD-508B-41D13FE28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8A7A8-B346-BF09-5A8A-0EEADE41D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EF498-D588-42D3-7AA6-E8DD400B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D4BC2-3777-2062-414E-BAA08896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7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0874-690C-3205-F4B1-932E9FE9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9F31B-C9AF-10A2-FAF2-9E5B388BB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9C8A1-984D-DFF4-2422-CB850059B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F359F-459D-17B4-6A66-1FAF96630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82C80-DFF6-71D6-1D11-51BB8E51D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B82EF-5B58-7A34-A5CB-9CD4953FC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5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8D2F4-2A7B-588A-48B8-B670F448E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17A18-65D1-55DB-36E0-B5E02ED9D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E8D11-8EF3-5B93-14AF-BE7981A57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120C3-6EEB-A36C-056F-422DD635A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4A83A-9A3D-E729-711D-F15957D89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0779F-F863-D7B2-9AA7-E9EC4C23D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A29A4-B46B-9F14-D945-9EBBFC51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24C290-5D78-7B7F-2410-2C9AD73C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8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FE30-E959-22FB-E6B2-BAE8AE7C0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E98C6-FE8A-F0A5-EAF6-7A87CBE1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02F13-D14B-56B7-B239-3D474EFDE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B62F0-2D7C-901D-05BB-77708E13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98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33CCB9-6AB4-BA7D-C16A-05E6CC0F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349D6-EB2B-FF19-DE03-3CA88525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39A34-C98B-62BC-0920-F04D45F38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5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C57C-93B6-8E30-C601-CF0F09F01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FA6DC-1411-893C-6A99-F17CF469B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9AF98-1DA9-54E1-7195-4C84488F3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20333-EEBD-C9C8-94FC-99BC44F5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4B370-C035-5E46-3064-8AB3F1A2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D72D8-17AF-9A2B-AB08-A6EB1CA6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5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1F16D-7448-B772-12FC-B825FC6B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6D4AA7-DE44-C275-D969-8C60E2E417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0F387-BC3D-F588-6768-FF97A8351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B7C8D-A88C-DEA8-B9AC-87FCB66B6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F0954-AB40-5C4A-1B16-B90DB8DAB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F53AA-AF57-700C-9133-A4F2D7A3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4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AA34-2BEF-ACB5-53CC-28EEB9BE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7A6FB-EE5A-A3FD-CC10-4CF98A5C6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45389-FC51-6C56-2213-E55B3219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E9CB3-270C-64D6-CD18-B50FC368A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C17BC-3517-2A0C-FC2F-5E1D9699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91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9C4BE-A3BD-711A-DD5D-79059EA58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27973-563B-BE90-2D07-F5A6E8898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C2919-EB58-B6D9-3B48-1D8B2284A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04106-1E69-2A59-EDE3-37D70D55D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8B4BF-CCF8-B9C1-81C8-2340EB2BE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8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ECCBF2-3BBE-4E9A-E684-0999D19D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FB8B8-5134-B4FE-0B51-85A24AE66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74CFD-3B92-2D0B-2B11-3B6358E51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9529D-428B-4FF7-B4B6-7F4AE5FE930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13B55-37F3-81D5-6285-01C6E10C1E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F9C07-84FD-D52F-E7CE-485FF0A57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40AB0-E9A8-43E4-90C8-3D27D3EE6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4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979DE-FA21-AAAA-187E-7FBD09B8D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3D82B-F506-93A5-BD7C-2E92A8FEF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10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BEE34-51DB-29EB-F527-10124DDF1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1BEB4-F84D-B83E-E42A-0C1A843AD4D5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You have: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/>
              <a:t>149,209 rows</a:t>
            </a:r>
            <a:r>
              <a:rPr lang="en-US" sz="1100"/>
              <a:t>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/>
              <a:t>54,170 unique safetyreportid</a:t>
            </a:r>
            <a:r>
              <a:rPr lang="en-US" sz="1100"/>
              <a:t>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Therefore, many safety reports have </a:t>
            </a:r>
            <a:r>
              <a:rPr lang="en-US" sz="1100" b="1"/>
              <a:t>more than one row</a:t>
            </a:r>
            <a:r>
              <a:rPr lang="en-US" sz="1100"/>
              <a:t>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/>
              <a:t>1. Why are there more rows than safety reports?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Your dataset contains the reaction variable. A single safety report can contain multiple adverse reactions.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For example: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This is </a:t>
            </a:r>
            <a:r>
              <a:rPr lang="en-US" sz="1100" b="1"/>
              <a:t>not necessarily duplicate data</a:t>
            </a:r>
            <a:r>
              <a:rPr lang="en-US" sz="11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It means: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/>
              <a:t>One safety report → potentially multiple reaction records.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So </a:t>
            </a:r>
            <a:r>
              <a:rPr lang="en-US" sz="1100" b="1"/>
              <a:t>do not remove these rows with drop_duplicates()</a:t>
            </a:r>
            <a:r>
              <a:rPr lang="en-US" sz="1100"/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91632F-52FA-4A8B-E737-3FD10FF4F2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744782"/>
              </p:ext>
            </p:extLst>
          </p:nvPr>
        </p:nvGraphicFramePr>
        <p:xfrm>
          <a:off x="5987738" y="1943624"/>
          <a:ext cx="5628019" cy="2737883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1972860">
                  <a:extLst>
                    <a:ext uri="{9D8B030D-6E8A-4147-A177-3AD203B41FA5}">
                      <a16:colId xmlns:a16="http://schemas.microsoft.com/office/drawing/2014/main" val="3941111467"/>
                    </a:ext>
                  </a:extLst>
                </a:gridCol>
                <a:gridCol w="2042147">
                  <a:extLst>
                    <a:ext uri="{9D8B030D-6E8A-4147-A177-3AD203B41FA5}">
                      <a16:colId xmlns:a16="http://schemas.microsoft.com/office/drawing/2014/main" val="2556072368"/>
                    </a:ext>
                  </a:extLst>
                </a:gridCol>
                <a:gridCol w="1613012">
                  <a:extLst>
                    <a:ext uri="{9D8B030D-6E8A-4147-A177-3AD203B41FA5}">
                      <a16:colId xmlns:a16="http://schemas.microsoft.com/office/drawing/2014/main" val="3169996587"/>
                    </a:ext>
                  </a:extLst>
                </a:gridCol>
              </a:tblGrid>
              <a:tr h="609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cap="none" spc="0">
                          <a:solidFill>
                            <a:schemeClr val="bg1"/>
                          </a:solidFill>
                        </a:rPr>
                        <a:t>safetyreportid</a:t>
                      </a:r>
                    </a:p>
                  </a:txBody>
                  <a:tcPr marL="167363" marR="128741" marT="128741" marB="128741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cap="none" spc="0">
                          <a:solidFill>
                            <a:schemeClr val="bg1"/>
                          </a:solidFill>
                        </a:rPr>
                        <a:t>generic_name</a:t>
                      </a:r>
                    </a:p>
                  </a:txBody>
                  <a:tcPr marL="167363" marR="128741" marT="128741" marB="1287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cap="none" spc="0">
                          <a:solidFill>
                            <a:schemeClr val="bg1"/>
                          </a:solidFill>
                        </a:rPr>
                        <a:t>reaction</a:t>
                      </a:r>
                    </a:p>
                  </a:txBody>
                  <a:tcPr marL="167363" marR="128741" marT="128741" marB="1287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096322"/>
                  </a:ext>
                </a:extLst>
              </a:tr>
              <a:tr h="609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10001</a:t>
                      </a:r>
                    </a:p>
                  </a:txBody>
                  <a:tcPr marL="167363" marR="128741" marT="128741" marB="128741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semaglutide</a:t>
                      </a:r>
                    </a:p>
                  </a:txBody>
                  <a:tcPr marL="167363" marR="128741" marT="128741" marB="12874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nausea</a:t>
                      </a:r>
                    </a:p>
                  </a:txBody>
                  <a:tcPr marL="167363" marR="128741" marT="128741" marB="12874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64796"/>
                  </a:ext>
                </a:extLst>
              </a:tr>
              <a:tr h="609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10001</a:t>
                      </a:r>
                    </a:p>
                  </a:txBody>
                  <a:tcPr marL="167363" marR="128741" marT="128741" marB="128741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semaglutide</a:t>
                      </a:r>
                    </a:p>
                  </a:txBody>
                  <a:tcPr marL="167363" marR="128741" marT="128741" marB="128741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vomiting</a:t>
                      </a:r>
                    </a:p>
                  </a:txBody>
                  <a:tcPr marL="167363" marR="128741" marT="128741" marB="128741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84186"/>
                  </a:ext>
                </a:extLst>
              </a:tr>
              <a:tr h="90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10001</a:t>
                      </a:r>
                    </a:p>
                  </a:txBody>
                  <a:tcPr marL="167363" marR="128741" marT="128741" marB="128741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semaglutide</a:t>
                      </a:r>
                    </a:p>
                  </a:txBody>
                  <a:tcPr marL="167363" marR="128741" marT="128741" marB="12874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abdominal pain</a:t>
                      </a:r>
                    </a:p>
                  </a:txBody>
                  <a:tcPr marL="167363" marR="128741" marT="128741" marB="12874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9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570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52C34-9609-3FDA-2227-914AD952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302F2-FAB2-A7E3-F0DB-FA3F685F7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RQ1 — Safety</a:t>
            </a:r>
          </a:p>
          <a:p>
            <a:pPr>
              <a:buNone/>
            </a:pPr>
            <a:r>
              <a:rPr lang="en-US" b="1" dirty="0"/>
              <a:t>How do adverse-event profiles differ among GLP-1 drugs?</a:t>
            </a:r>
            <a:endParaRPr lang="en-US" dirty="0"/>
          </a:p>
          <a:p>
            <a:pPr>
              <a:buNone/>
            </a:pPr>
            <a:r>
              <a:rPr lang="en-US" b="1" dirty="0"/>
              <a:t>RQ2 — Patient characteristics</a:t>
            </a:r>
          </a:p>
          <a:p>
            <a:pPr>
              <a:buNone/>
            </a:pPr>
            <a:r>
              <a:rPr lang="en-US" b="1" dirty="0"/>
              <a:t>How are age, sex, weight, and serious outcomes associated with reported adverse events?</a:t>
            </a:r>
            <a:endParaRPr lang="en-US" dirty="0"/>
          </a:p>
          <a:p>
            <a:pPr>
              <a:buNone/>
            </a:pPr>
            <a:r>
              <a:rPr lang="en-US" b="1" dirty="0"/>
              <a:t>RQ3 — Time and market</a:t>
            </a:r>
          </a:p>
          <a:p>
            <a:pPr>
              <a:buNone/>
            </a:pPr>
            <a:r>
              <a:rPr lang="en-US" b="1" dirty="0"/>
              <a:t>How do adverse-event reporting trends change over time, and how do they relate temporally to manufacturer stock-price trends?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382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5F81-75EB-FFE6-E3F7-27A6A2B2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adverse-event patterns differ across GLP-1 drugs, and what demographic and clinical factors are associated with serious adverse events?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A6C08-8679-D5CC-1281-4F9759FEC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6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5480-7471-B8CF-42BB-60F10C3B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3AF70-AC5D-D1CA-FD9F-4D6CBC11F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Question 1 — Drug safety profile</a:t>
            </a:r>
          </a:p>
          <a:p>
            <a:pPr>
              <a:buNone/>
            </a:pPr>
            <a:r>
              <a:rPr lang="en-US" b="1" dirty="0"/>
              <a:t>How do serious adverse-event rates differ between GLP-1 drugs?</a:t>
            </a:r>
            <a:endParaRPr lang="en-US" dirty="0"/>
          </a:p>
          <a:p>
            <a:pPr>
              <a:buNone/>
            </a:pPr>
            <a:r>
              <a:rPr lang="en-US" dirty="0"/>
              <a:t>Variables: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generic_name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brand_queried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serious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seriousness_hospitalization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seriousness_death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seriousness_lifethreatening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seriousness_disabling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6710C-FEAB-3150-81A2-BFC8410A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EC9597-E6CB-68DB-82BA-19EC958BEE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b="1" dirty="0" err="1"/>
                  <a:t>uestion</a:t>
                </a:r>
                <a:r>
                  <a:rPr lang="en-US" b="1" dirty="0"/>
                  <a:t> 2 — Hospitalization</a:t>
                </a:r>
              </a:p>
              <a:p>
                <a:pPr>
                  <a:buNone/>
                </a:pPr>
                <a:r>
                  <a:rPr lang="en-US" dirty="0"/>
                  <a:t>Your example says:</a:t>
                </a:r>
              </a:p>
              <a:p>
                <a:pPr>
                  <a:buNone/>
                </a:pPr>
                <a:r>
                  <a:rPr lang="en-US" dirty="0"/>
                  <a:t>Which GLP-1 has the highest hospitalization rate per 1,000 reports?</a:t>
                </a:r>
              </a:p>
              <a:p>
                <a:pPr>
                  <a:buNone/>
                </a:pPr>
                <a:r>
                  <a:rPr lang="en-US" dirty="0"/>
                  <a:t>This is a </a:t>
                </a:r>
                <a:r>
                  <a:rPr lang="en-US" b="1" dirty="0"/>
                  <a:t>very good question</a:t>
                </a:r>
                <a:r>
                  <a:rPr lang="en-US" dirty="0"/>
                  <a:t>, but we need to calculate it carefully.</a:t>
                </a:r>
              </a:p>
              <a:p>
                <a:pPr>
                  <a:buNone/>
                </a:pPr>
                <a:r>
                  <a:rPr lang="en-US" dirty="0"/>
                  <a:t>For each drug: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𝐻𝑜𝑠𝑝𝑖𝑡𝑎𝑙𝑖𝑧𝑎𝑡𝑖𝑜𝑛</m:t>
                      </m:r>
                      <m:r>
                        <m:rPr>
                          <m:nor/>
                        </m:rPr>
                        <a:rPr lang="en-US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hospitalization reports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total reports</m:t>
                          </m:r>
                        </m:den>
                      </m:f>
                      <m:r>
                        <a:rPr lang="en-US" b="0" i="0">
                          <a:latin typeface="Cambria Math" panose="02040503050406030204" pitchFamily="18" charset="0"/>
                        </a:rPr>
                        <m:t>×1000</m:t>
                      </m:r>
                    </m:oMath>
                  </m:oMathPara>
                </a14:m>
                <a:endParaRPr lang="en-US" b="0" dirty="0"/>
              </a:p>
              <a:p>
                <a:pPr>
                  <a:buNone/>
                </a:pPr>
                <a:r>
                  <a:rPr lang="en-US" dirty="0"/>
                  <a:t>This is better than simply counting hospitalization reports because drugs may have very different numbers of reports.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EC9597-E6CB-68DB-82BA-19EC958BEE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4754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CA6FC-6FAC-6601-07DF-176E1ACD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776AF-E603-9674-97F3-82C6D56D6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Question 3 — Demographics</a:t>
            </a:r>
          </a:p>
          <a:p>
            <a:pPr>
              <a:buNone/>
            </a:pPr>
            <a:r>
              <a:rPr lang="en-US" dirty="0"/>
              <a:t>We have: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patient_age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patient_sex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patient_weight_kg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So we can ask:</a:t>
            </a:r>
          </a:p>
          <a:p>
            <a:pPr>
              <a:buNone/>
            </a:pPr>
            <a:r>
              <a:rPr lang="en-US" b="1" dirty="0"/>
              <a:t>How do patient demographics vary across GLP-1 drugs and serious adverse events?</a:t>
            </a:r>
            <a:endParaRPr lang="en-US" dirty="0"/>
          </a:p>
          <a:p>
            <a:pPr>
              <a:buNone/>
            </a:pPr>
            <a:r>
              <a:rPr lang="en-US" dirty="0"/>
              <a:t>This satisfies an important part of your rubric because the rubric explicitly requires investigation of </a:t>
            </a:r>
            <a:r>
              <a:rPr lang="en-US" b="1" dirty="0"/>
              <a:t>at least six variables using both univariate and bi/multivariate analysis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63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C8922-764D-C8AA-948D-6EB0D5C7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2520B-8FCD-6261-EC16-DE8E33C5B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/>
              <a:t>Question 4 — Adverse reactions</a:t>
            </a:r>
          </a:p>
          <a:p>
            <a:pPr>
              <a:buNone/>
            </a:pPr>
            <a:r>
              <a:rPr lang="en-US" dirty="0"/>
              <a:t>We have: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reaction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reaction_outcome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/>
              <a:t>This gives us a very interesting direction:</a:t>
            </a:r>
          </a:p>
          <a:p>
            <a:pPr>
              <a:buNone/>
            </a:pPr>
            <a:r>
              <a:rPr lang="en-US" b="1" dirty="0"/>
              <a:t>Which adverse reactions are most frequently reported for each GLP-1 drug, and are particular reactions associated with serious outcomes?</a:t>
            </a:r>
            <a:endParaRPr lang="en-US" dirty="0"/>
          </a:p>
          <a:p>
            <a:pPr>
              <a:buNone/>
            </a:pPr>
            <a:r>
              <a:rPr lang="en-US" dirty="0"/>
              <a:t>For example, we could eventually investigate: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Drug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↓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Reaction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↓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Serious / non-serious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↓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Outcome</a:t>
            </a:r>
          </a:p>
          <a:p>
            <a:pPr>
              <a:buNone/>
            </a:pPr>
            <a:r>
              <a:rPr lang="en-US" dirty="0"/>
              <a:t>This could become one of the strongest parts of the EDA.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612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A9FAA-A7EF-52C7-6193-E918587E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9D59-E136-F5A2-61A1-6D3831117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Question 5 — Time</a:t>
            </a:r>
          </a:p>
          <a:p>
            <a:r>
              <a:rPr lang="en-US" dirty="0"/>
              <a:t>We have:</a:t>
            </a:r>
          </a:p>
          <a:p>
            <a:r>
              <a:rPr lang="en-US" dirty="0" err="1"/>
              <a:t>receive_date</a:t>
            </a:r>
            <a:endParaRPr lang="en-US" dirty="0"/>
          </a:p>
          <a:p>
            <a:r>
              <a:rPr lang="en-US" dirty="0"/>
              <a:t>So we can investigate:</a:t>
            </a:r>
          </a:p>
          <a:p>
            <a:r>
              <a:rPr lang="en-US" b="1" dirty="0"/>
              <a:t>How have adverse-event reports changed over time for different GLP-1 drugs?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68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AE56-31D5-3BB0-E305-928195C6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04FB9-C1A0-195D-1ED5-4E05E8EAB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90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How do adverse-event patterns differ across GLP-1 drugs, and what demographic and clinical factors are associated with serious adverse events?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Marwa Alazzawi</dc:creator>
  <cp:lastModifiedBy>Marwa Alazzawi</cp:lastModifiedBy>
  <cp:revision>1</cp:revision>
  <dcterms:created xsi:type="dcterms:W3CDTF">2026-10-03T05:40:47Z</dcterms:created>
  <dcterms:modified xsi:type="dcterms:W3CDTF">2026-10-03T05:41:30Z</dcterms:modified>
</cp:coreProperties>
</file>